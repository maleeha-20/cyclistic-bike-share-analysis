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5" r:id="rId4"/>
    <p:sldId id="264" r:id="rId5"/>
    <p:sldId id="2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70B4-1995-DC3D-6C42-626BA828C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1B58E-6F07-B93E-ADED-35D901E0F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2B374-935D-A6BA-7A1D-98C0C01C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204D-F35E-4DE5-BCD6-C7E46B91A8EC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1F52B-AE2F-F87F-F2FA-3910BD94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531DD-C0C7-BC0A-9841-94943E42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7B5C-9A8B-4623-92E1-E93B6CB24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24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2D45F-FDC9-7222-9664-95777D60F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FA530-3726-EE10-2667-70BC10B5D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0FA52-8BD8-A227-63E1-431D00196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204D-F35E-4DE5-BCD6-C7E46B91A8EC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8330-2CD7-46E7-3F5A-51D9DCB91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C6EFB-A330-5213-A12E-B36E8AB3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7B5C-9A8B-4623-92E1-E93B6CB24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46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84CDB-45DC-9EB2-0090-12E47062D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CD632-10CD-A890-5BB6-0C010924C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7733F-8F5B-01F8-918A-9501631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204D-F35E-4DE5-BCD6-C7E46B91A8EC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F2AA5-7669-8B71-CE9C-77B3BBA2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1A081-D346-0744-C25B-7256BB6BA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7B5C-9A8B-4623-92E1-E93B6CB24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927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F9A93-DDBE-AAD8-4949-AFE6FC2A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3F28-0F59-A2BE-C877-F16EF1614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FBADC-DDFF-58A0-FAAF-68CFDBE35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23AD1-5B72-45F3-ED7E-0A59ABFCE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204D-F35E-4DE5-BCD6-C7E46B91A8EC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EDAE1-2FFF-CA79-FBC2-986A35C28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53922-BEFA-206D-C4EA-7D83748C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7B5C-9A8B-4623-92E1-E93B6CB24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34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E0CCC-CE28-3C7E-5F9E-A395232F9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74119-3923-A6BC-CE8A-CF0548323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91046-337C-A115-4C1D-672B804C0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98EB4-E46B-DE34-6DD4-03123BE0B8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42597D-46B9-011E-0054-B4454046E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22DAAC-EF73-E3C1-AE35-1EEED7FD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204D-F35E-4DE5-BCD6-C7E46B91A8EC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432697-76E5-FBFA-D9B9-2BB23CDCD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68E8A-FCB1-684B-BDF9-6504AAC49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7B5C-9A8B-4623-92E1-E93B6CB24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730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0420-F19D-23F0-A682-68776F783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4CBAF-F692-FE47-1EB1-5D33BF07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204D-F35E-4DE5-BCD6-C7E46B91A8EC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C682C-76A3-6B26-9389-7ABBEAEA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E960E-F22B-61B3-D437-1DD003AFA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7B5C-9A8B-4623-92E1-E93B6CB24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679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3E862-E306-137B-5027-87EB11CD8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204D-F35E-4DE5-BCD6-C7E46B91A8EC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3E44E4-8BF1-4007-5E94-0EB457E9F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7269D-1BE7-B5D1-1266-22CE93703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7B5C-9A8B-4623-92E1-E93B6CB24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125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428A-68F5-8D60-95C8-A354506A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29A5E-6B25-7023-6B55-20551374E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DA547-AC75-242C-6A8A-E1E929F37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775FF-0188-BFA0-8BC5-182F5B395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204D-F35E-4DE5-BCD6-C7E46B91A8EC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0D7B8-1303-9E7E-8246-2D025D2C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351F8-BE98-E99C-C1B0-41E74DDCB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7B5C-9A8B-4623-92E1-E93B6CB24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577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7DBFC-6128-EDE9-C6FF-8246DB892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D90095-4F6B-D35F-159B-587CCD66B6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FBC62-0C8C-24C0-5AD3-4BF716FB1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3BF19-C129-DF5D-EF14-863001E09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204D-F35E-4DE5-BCD6-C7E46B91A8EC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2AC84-ED73-F151-D685-189391C7D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4EA12-193A-2497-C502-B3E404E76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7B5C-9A8B-4623-92E1-E93B6CB24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86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4263-B404-A4DB-1382-5C648F56B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65B25-F088-1E1A-92BC-09AA78771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660FD-1C36-324C-158C-C45CC866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204D-F35E-4DE5-BCD6-C7E46B91A8EC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49838-E804-7D73-2C29-D4CB6FE4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9EDB-C2D5-ABD6-364F-0919DF504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7B5C-9A8B-4623-92E1-E93B6CB24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06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74937A-FE40-72B8-2130-2A151D01D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7F2BD-A6E6-10DA-A86F-538BE4A17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02EA6-A807-2725-B310-27EDCD12C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204D-F35E-4DE5-BCD6-C7E46B91A8EC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4D3BE-379B-268D-B854-8A565AD8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A0BC2-5A94-459C-BA19-1EA2400D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7B5C-9A8B-4623-92E1-E93B6CB24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535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81FF0E-47C0-C6D8-3D71-B8E94056F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B020C-0445-C716-9165-3DE31FDC6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36565-DA23-7BE9-B681-7AB3C4853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E204D-F35E-4DE5-BCD6-C7E46B91A8EC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921B0-8E53-F2D7-FE03-D75BF41D7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452B1-3650-73F1-1680-938E10354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17B5C-9A8B-4623-92E1-E93B6CB24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60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21C7E-902F-705A-D7F4-1D0EFD629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81" y="249379"/>
            <a:ext cx="12107119" cy="1040888"/>
          </a:xfrm>
        </p:spPr>
        <p:txBody>
          <a:bodyPr>
            <a:noAutofit/>
          </a:bodyPr>
          <a:lstStyle/>
          <a:p>
            <a:r>
              <a:rPr lang="en-US" sz="3600" b="1" dirty="0" err="1"/>
              <a:t>Cyclistic</a:t>
            </a:r>
            <a:r>
              <a:rPr lang="en-US" sz="3600" b="1" dirty="0"/>
              <a:t> Bike-Share Analysis</a:t>
            </a:r>
            <a:br>
              <a:rPr lang="en-US" sz="3600" b="1" dirty="0"/>
            </a:br>
            <a:r>
              <a:rPr lang="en-US" sz="3600" b="1" dirty="0"/>
              <a:t>Member vs Casual Rider Behavior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92035-BFDD-334D-A13D-AE158B423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3200"/>
            <a:ext cx="10515600" cy="3433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Goal:</a:t>
            </a:r>
          </a:p>
          <a:p>
            <a:r>
              <a:rPr lang="en-US" sz="1800" dirty="0"/>
              <a:t>Understand behavioral differences between member and casual riders to support growth &amp; retention strategies.</a:t>
            </a:r>
          </a:p>
          <a:p>
            <a:pPr marL="0" indent="0">
              <a:buNone/>
            </a:pPr>
            <a:r>
              <a:rPr lang="en-IN" sz="2000" b="1" dirty="0"/>
              <a:t>Executive Summary:</a:t>
            </a:r>
          </a:p>
          <a:p>
            <a:r>
              <a:rPr lang="en-US" sz="1800" dirty="0"/>
              <a:t>Members drive the majority of platform usage, accounting for 65% of total rides, while casual riders represent a meaningful growth segment. Casual riders exhibit longer ride durations, suggesting leisure-oriented usage patterns. Electric bikes demonstrate stronger demand across both segments. Ride activity follows clear seasonal trends, with demand peaking mid-year. These patterns reveal opportunities for membership conversion, pricing optimization, and fleet strategy adjustments.</a:t>
            </a:r>
            <a:endParaRPr lang="en-IN" sz="1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4A8DBC-36D3-4CCC-4A2D-2A27E3FE7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298" y="1541343"/>
            <a:ext cx="6963747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192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7ECC15-1666-B309-6218-FEC515968302}"/>
              </a:ext>
            </a:extLst>
          </p:cNvPr>
          <p:cNvSpPr txBox="1"/>
          <p:nvPr/>
        </p:nvSpPr>
        <p:spPr>
          <a:xfrm>
            <a:off x="578734" y="2037144"/>
            <a:ext cx="45141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Casual riders demonstrate longer ride durations, indicating leisure-oriented usage patterns, while members show shorter rides consistent with routine or commute behavior. </a:t>
            </a:r>
          </a:p>
          <a:p>
            <a:endParaRPr lang="en-US" dirty="0"/>
          </a:p>
          <a:p>
            <a:r>
              <a:rPr lang="en-US" b="1" dirty="0"/>
              <a:t>Recommendations: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 high-duration casual riders with personalized membership incentives.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Highlight cost advantages associated with frequent or extended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Introduce cost-efficient time-based packages within membership plans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B12AFA-EB87-1BC1-6D52-444B24DCC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845" y="2330189"/>
            <a:ext cx="5249008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24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220618-9E0A-299C-56B2-1C1B13DB4D08}"/>
              </a:ext>
            </a:extLst>
          </p:cNvPr>
          <p:cNvSpPr txBox="1"/>
          <p:nvPr/>
        </p:nvSpPr>
        <p:spPr>
          <a:xfrm>
            <a:off x="694481" y="1666754"/>
            <a:ext cx="54015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Insights</a:t>
            </a:r>
            <a:r>
              <a:rPr lang="en-I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Ride activity for both members and casual riders shows strong seasonality, with demand rising through mid-year, peaking in late summer and declining sharply toward winter months</a:t>
            </a:r>
          </a:p>
          <a:p>
            <a:endParaRPr lang="en-US" dirty="0"/>
          </a:p>
          <a:p>
            <a:r>
              <a:rPr lang="en-US" b="1" dirty="0"/>
              <a:t>Recommendations: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Concentrate conversion and engagement campaigns ahead of peak demand periods, Introduce targeted membership incentives such as trial offers, upgrade discounts, and usage-based rewards.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 seasonal membership incentives during low-demand months to stabilize ridership and reduce revenue fluctuations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01FE9D-7129-96FE-7AF0-7158CB65A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172" y="2060293"/>
            <a:ext cx="5640729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7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9FD1BE-F3F7-D737-18FC-1CC2FE80B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326" y="2138427"/>
            <a:ext cx="5782482" cy="33913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2B551E-D655-FD7A-02A3-ECF204927B12}"/>
              </a:ext>
            </a:extLst>
          </p:cNvPr>
          <p:cNvSpPr txBox="1"/>
          <p:nvPr/>
        </p:nvSpPr>
        <p:spPr>
          <a:xfrm>
            <a:off x="358815" y="1562582"/>
            <a:ext cx="494239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Key Insight: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Electric bikes generate higher ride volumes across both customer types, indicating stronger user preference compared to classic bikes.</a:t>
            </a:r>
          </a:p>
          <a:p>
            <a:endParaRPr lang="en-US" dirty="0"/>
          </a:p>
          <a:p>
            <a:r>
              <a:rPr lang="en-US" sz="2000" b="1" dirty="0"/>
              <a:t>Recommendations: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Prioritize expansion and allocation of the electric bike fleet.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Leverage electric bike demand as a membership value driver through exclusive or priority access benefits</a:t>
            </a:r>
          </a:p>
        </p:txBody>
      </p:sp>
    </p:spTree>
    <p:extLst>
      <p:ext uri="{BB962C8B-B14F-4D97-AF65-F5344CB8AC3E}">
        <p14:creationId xmlns:p14="http://schemas.microsoft.com/office/powerpoint/2010/main" val="3464659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23AAF-EDD8-858C-C804-A0CC6054E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919"/>
            <a:ext cx="10515600" cy="648183"/>
          </a:xfrm>
        </p:spPr>
        <p:txBody>
          <a:bodyPr>
            <a:normAutofit fontScale="90000"/>
          </a:bodyPr>
          <a:lstStyle/>
          <a:p>
            <a:r>
              <a:rPr lang="en-IN" dirty="0"/>
              <a:t>Final Recommendations &amp; Strategic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4DCA9-94CF-0FA7-AF28-3A3422B48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595"/>
            <a:ext cx="10515600" cy="5077368"/>
          </a:xfrm>
        </p:spPr>
        <p:txBody>
          <a:bodyPr/>
          <a:lstStyle/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Observed behavioral and demand patterns suggest that growth can be driven through:</a:t>
            </a:r>
            <a:endParaRPr lang="en-US" sz="1800" dirty="0"/>
          </a:p>
          <a:p>
            <a:r>
              <a:rPr lang="en-US" sz="1800" dirty="0"/>
              <a:t>Targeted casual-to-member conversion strategies</a:t>
            </a:r>
          </a:p>
          <a:p>
            <a:r>
              <a:rPr lang="en-US" sz="1800" dirty="0"/>
              <a:t>Demand-aligned fleet investments</a:t>
            </a:r>
          </a:p>
          <a:p>
            <a:r>
              <a:rPr lang="en-US" sz="1800" dirty="0"/>
              <a:t>Seasonally adaptive pricing and marketing initiatives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1800" b="1" dirty="0"/>
              <a:t>These initiatives collectively support sustainable usage growth, improved asset utilization, and stronger customer value delivery.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4124926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331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Cyclistic Bike-Share Analysis Member vs Casual Rider Behavior</vt:lpstr>
      <vt:lpstr>PowerPoint Presentation</vt:lpstr>
      <vt:lpstr>PowerPoint Presentation</vt:lpstr>
      <vt:lpstr>PowerPoint Presentation</vt:lpstr>
      <vt:lpstr>Final Recommendations &amp; Strategic Direction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Maleeha Medhat</dc:creator>
  <cp:lastModifiedBy>Maleeha Medhat</cp:lastModifiedBy>
  <cp:revision>2</cp:revision>
  <dcterms:created xsi:type="dcterms:W3CDTF">2026-02-14T15:17:42Z</dcterms:created>
  <dcterms:modified xsi:type="dcterms:W3CDTF">2026-02-14T16:13:51Z</dcterms:modified>
</cp:coreProperties>
</file>